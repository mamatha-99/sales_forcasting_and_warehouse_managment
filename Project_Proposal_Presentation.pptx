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31"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946" y="1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10/4/2024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10/4/2024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10/4/2024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srn.com/abstract=3733548" TargetMode="External"/><Relationship Id="rId2" Type="http://schemas.openxmlformats.org/officeDocument/2006/relationships/hyperlink" Target="https://yu.instructure.com/courses/64895/assignments/340123?module_item_id=1207393" TargetMode="External"/><Relationship Id="rId1" Type="http://schemas.openxmlformats.org/officeDocument/2006/relationships/slideLayout" Target="../slideLayouts/slideLayout2.xml"/><Relationship Id="rId5" Type="http://schemas.openxmlformats.org/officeDocument/2006/relationships/hyperlink" Target="https://data.montgomerycountymd.gov/Community-Recreation/Warehouse-and-Retail-Sales/v76h-r7br/about_data" TargetMode="External"/><Relationship Id="rId4" Type="http://schemas.openxmlformats.org/officeDocument/2006/relationships/hyperlink" Target="https://dx.doi.org/10.2139/ssrn.373354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689F4-E672-2FA2-8A42-ED474596F90D}"/>
              </a:ext>
            </a:extLst>
          </p:cNvPr>
          <p:cNvSpPr>
            <a:spLocks noGrp="1"/>
          </p:cNvSpPr>
          <p:nvPr>
            <p:ph type="title"/>
          </p:nvPr>
        </p:nvSpPr>
        <p:spPr>
          <a:xfrm>
            <a:off x="211061" y="56848"/>
            <a:ext cx="8915402" cy="1371600"/>
          </a:xfrm>
        </p:spPr>
        <p:txBody>
          <a:bodyPr/>
          <a:lstStyle/>
          <a:p>
            <a:r>
              <a:rPr lang="en-US" dirty="0">
                <a:hlinkClick r:id="rId2"/>
              </a:rPr>
              <a:t>Project Proposal</a:t>
            </a:r>
            <a:endParaRPr lang="en-US" dirty="0"/>
          </a:p>
        </p:txBody>
      </p:sp>
      <p:sp>
        <p:nvSpPr>
          <p:cNvPr id="3" name="Content Placeholder 2">
            <a:extLst>
              <a:ext uri="{FF2B5EF4-FFF2-40B4-BE49-F238E27FC236}">
                <a16:creationId xmlns:a16="http://schemas.microsoft.com/office/drawing/2014/main" id="{5D535F95-7F08-9E56-429C-40C972408B42}"/>
              </a:ext>
            </a:extLst>
          </p:cNvPr>
          <p:cNvSpPr>
            <a:spLocks noGrp="1"/>
          </p:cNvSpPr>
          <p:nvPr>
            <p:ph idx="1"/>
          </p:nvPr>
        </p:nvSpPr>
        <p:spPr>
          <a:xfrm>
            <a:off x="210116" y="1060359"/>
            <a:ext cx="4542715" cy="5740793"/>
          </a:xfrm>
        </p:spPr>
        <p:txBody>
          <a:bodyPr vert="horz" lIns="91440" tIns="45720" rIns="91440" bIns="45720" rtlCol="0" anchor="t">
            <a:normAutofit fontScale="77500" lnSpcReduction="20000"/>
          </a:bodyPr>
          <a:lstStyle/>
          <a:p>
            <a:pPr marL="0" indent="0">
              <a:buNone/>
            </a:pPr>
            <a:r>
              <a:rPr lang="en-US" sz="1400" b="1" dirty="0">
                <a:latin typeface="Times New Roman" panose="02020603050405020304" pitchFamily="18" charset="0"/>
                <a:cs typeface="Times New Roman" panose="02020603050405020304" pitchFamily="18" charset="0"/>
              </a:rPr>
              <a:t>Project title : </a:t>
            </a:r>
            <a:r>
              <a:rPr lang="en-US" sz="1500" b="1" dirty="0">
                <a:latin typeface="Times New Roman" panose="02020603050405020304" pitchFamily="18" charset="0"/>
                <a:cs typeface="Times New Roman" panose="02020603050405020304" pitchFamily="18" charset="0"/>
              </a:rPr>
              <a:t>Demand Forecasting in Supply Chain</a:t>
            </a:r>
          </a:p>
          <a:p>
            <a:pPr marL="0" indent="0">
              <a:buNone/>
            </a:pPr>
            <a:r>
              <a:rPr lang="en-US" sz="1200" b="1" dirty="0">
                <a:latin typeface="Times New Roman" panose="02020603050405020304" pitchFamily="18" charset="0"/>
                <a:cs typeface="Times New Roman" panose="02020603050405020304" pitchFamily="18" charset="0"/>
              </a:rPr>
              <a:t>INTRODUCTION</a:t>
            </a:r>
          </a:p>
          <a:p>
            <a:pPr marL="0" indent="0">
              <a:buNone/>
            </a:pPr>
            <a:r>
              <a:rPr lang="en-US" sz="1200" b="1" dirty="0">
                <a:latin typeface="Segoe UI"/>
                <a:cs typeface="Segoe UI"/>
              </a:rPr>
              <a:t>  </a:t>
            </a:r>
          </a:p>
          <a:p>
            <a:pPr marL="285750" indent="-285750"/>
            <a:endParaRPr lang="en-US" sz="1200" b="1" dirty="0">
              <a:latin typeface="Segoe UI"/>
              <a:ea typeface="+mn-lt"/>
              <a:cs typeface="Segoe UI"/>
            </a:endParaRPr>
          </a:p>
          <a:p>
            <a:pPr marL="285750" indent="-285750"/>
            <a:endParaRPr lang="en-US" sz="1200" b="1" dirty="0">
              <a:latin typeface="Segoe UI"/>
              <a:ea typeface="+mn-lt"/>
              <a:cs typeface="Segoe UI"/>
            </a:endParaRPr>
          </a:p>
          <a:p>
            <a:pPr marL="285750" indent="-285750"/>
            <a:endParaRPr lang="en-US" sz="1200" b="1" dirty="0">
              <a:latin typeface="Segoe UI"/>
              <a:ea typeface="+mn-lt"/>
              <a:cs typeface="Segoe UI"/>
            </a:endParaRPr>
          </a:p>
          <a:p>
            <a:pPr marL="0" indent="0">
              <a:buNone/>
            </a:pPr>
            <a:endParaRPr lang="en-US" sz="1200" b="1" dirty="0">
              <a:latin typeface="Segoe UI"/>
              <a:ea typeface="+mn-lt"/>
              <a:cs typeface="Segoe UI"/>
            </a:endParaRPr>
          </a:p>
          <a:p>
            <a:pPr marL="0" indent="0">
              <a:buNone/>
            </a:pPr>
            <a:r>
              <a:rPr lang="en-US" sz="1300" b="1" dirty="0">
                <a:latin typeface="Times New Roman" panose="02020603050405020304" pitchFamily="18" charset="0"/>
                <a:ea typeface="+mn-lt"/>
                <a:cs typeface="Times New Roman" panose="02020603050405020304" pitchFamily="18" charset="0"/>
              </a:rPr>
              <a:t>Brief literature review</a:t>
            </a:r>
          </a:p>
          <a:p>
            <a:pPr marL="0" indent="0">
              <a:lnSpc>
                <a:spcPct val="120000"/>
              </a:lnSpc>
              <a:buNone/>
            </a:pPr>
            <a:r>
              <a:rPr lang="en-US" sz="1300" dirty="0">
                <a:latin typeface="Times New Roman" panose="02020603050405020304" pitchFamily="18" charset="0"/>
                <a:ea typeface="+mn-lt"/>
                <a:cs typeface="Times New Roman" panose="02020603050405020304" pitchFamily="18" charset="0"/>
              </a:rPr>
              <a:t>In recent years, demand forecasting has seen the application of various machine learning techniques, categorized into time series analysis, regression-based methods, and supervised/unsupervised models. While models like LSTM show high accuracy in predicting demand, they are computationally intensive. On the other hand, regression and simpler models offer faster computations but may lack predictive power. The comparison suggests that hybrid and ensemble models hold promise for improving both accuracy and efficiency, marking a key area for future research in demand forecasting.</a:t>
            </a:r>
          </a:p>
          <a:p>
            <a:pPr marL="0" indent="0">
              <a:buNone/>
            </a:pPr>
            <a:r>
              <a:rPr lang="en-IN" sz="800" b="0" i="0" dirty="0">
                <a:solidFill>
                  <a:srgbClr val="505050"/>
                </a:solidFill>
                <a:effectLst/>
                <a:latin typeface="NexusSansWebPro"/>
              </a:rPr>
              <a:t>G, </a:t>
            </a:r>
            <a:r>
              <a:rPr lang="en-IN" sz="800" b="0" i="0" dirty="0" err="1">
                <a:solidFill>
                  <a:srgbClr val="505050"/>
                </a:solidFill>
                <a:effectLst/>
                <a:latin typeface="NexusSansWebPro"/>
              </a:rPr>
              <a:t>Sumaiya</a:t>
            </a:r>
            <a:r>
              <a:rPr lang="en-IN" sz="800" b="0" i="0" dirty="0">
                <a:solidFill>
                  <a:srgbClr val="505050"/>
                </a:solidFill>
                <a:effectLst/>
                <a:latin typeface="NexusSansWebPro"/>
              </a:rPr>
              <a:t> Farzana and N, Prakash, Machine Learning in Demand Forecasting - A Review (November 19, 2020). Proceedings of the 2nd International Conference on IoT, Social, Mobile, Analytics &amp; Cloud in Computational Vision &amp; Bio-Engineering (ISMAC-CVB 2020), Available at SSRN: </a:t>
            </a:r>
            <a:r>
              <a:rPr lang="en-IN" sz="800" b="0" i="0" u="sng" dirty="0">
                <a:solidFill>
                  <a:srgbClr val="505050"/>
                </a:solidFill>
                <a:effectLst/>
                <a:latin typeface="NexusSansWebPro"/>
                <a:hlinkClick r:id="rId3"/>
              </a:rPr>
              <a:t>https://ssrn.com/abstract=3733548</a:t>
            </a:r>
            <a:r>
              <a:rPr lang="en-IN" sz="800" b="0" i="0" dirty="0">
                <a:solidFill>
                  <a:srgbClr val="505050"/>
                </a:solidFill>
                <a:effectLst/>
                <a:latin typeface="NexusSansWebPro"/>
              </a:rPr>
              <a:t> or </a:t>
            </a:r>
            <a:r>
              <a:rPr lang="en-IN" sz="800" b="0" i="0" u="sng" dirty="0">
                <a:solidFill>
                  <a:srgbClr val="505050"/>
                </a:solidFill>
                <a:effectLst/>
                <a:latin typeface="NexusSansWebPro"/>
                <a:hlinkClick r:id="rId4"/>
              </a:rPr>
              <a:t>http://dx.doi.org/10.2139/ssrn.3733548</a:t>
            </a:r>
            <a:endParaRPr lang="en-US" sz="800" dirty="0">
              <a:latin typeface="Times New Roman" panose="02020603050405020304" pitchFamily="18" charset="0"/>
              <a:ea typeface="+mn-lt"/>
              <a:cs typeface="Times New Roman" panose="02020603050405020304" pitchFamily="18" charset="0"/>
            </a:endParaRPr>
          </a:p>
          <a:p>
            <a:pPr marL="0" indent="0">
              <a:buNone/>
            </a:pPr>
            <a:r>
              <a:rPr lang="en-US" sz="1300" b="1" dirty="0">
                <a:latin typeface="Segoe UI"/>
                <a:ea typeface="+mn-lt"/>
                <a:cs typeface="Segoe UI"/>
              </a:rPr>
              <a:t>Why the proposed research questions are relevant and should be of interest?</a:t>
            </a:r>
            <a:endParaRPr lang="en-US" sz="1300" b="1" dirty="0">
              <a:latin typeface="Segoe UI"/>
              <a:cs typeface="Segoe UI"/>
            </a:endParaRPr>
          </a:p>
          <a:p>
            <a:pPr marL="0" indent="0">
              <a:buNone/>
            </a:pPr>
            <a:r>
              <a:rPr lang="en-US" sz="1300" dirty="0">
                <a:latin typeface="Times New Roman" panose="02020603050405020304" pitchFamily="18" charset="0"/>
                <a:cs typeface="Times New Roman" panose="02020603050405020304" pitchFamily="18" charset="0"/>
              </a:rPr>
              <a:t>The proposed research questions are highly relevant and should be of significant interest due to the critical importance of effective inventory management and business improvement in today's competitive and complex business environments</a:t>
            </a:r>
            <a:r>
              <a:rPr lang="en-US" sz="1300" dirty="0">
                <a:latin typeface="Times New Roman" panose="02020603050405020304" pitchFamily="18" charset="0"/>
                <a:ea typeface="+mn-lt"/>
                <a:cs typeface="Times New Roman" panose="02020603050405020304" pitchFamily="18" charset="0"/>
              </a:rPr>
              <a:t>.</a:t>
            </a:r>
          </a:p>
          <a:p>
            <a:pPr marL="0" indent="0">
              <a:buNone/>
            </a:pPr>
            <a:r>
              <a:rPr lang="en-US" sz="1300" b="1" dirty="0">
                <a:latin typeface="Times New Roman" panose="02020603050405020304" pitchFamily="18" charset="0"/>
                <a:cs typeface="Times New Roman" panose="02020603050405020304" pitchFamily="18" charset="0"/>
              </a:rPr>
              <a:t>RESEARCH QUESTIONS</a:t>
            </a:r>
          </a:p>
          <a:p>
            <a:r>
              <a:rPr lang="en-US" sz="1300" dirty="0">
                <a:latin typeface="Times New Roman" panose="02020603050405020304" pitchFamily="18" charset="0"/>
                <a:cs typeface="Times New Roman" panose="02020603050405020304" pitchFamily="18" charset="0"/>
              </a:rPr>
              <a:t>What is the relationship between retail transfers and demand, and how can this insight be used to minimize overstock and stockout situations? </a:t>
            </a:r>
          </a:p>
          <a:p>
            <a:r>
              <a:rPr lang="en-US" sz="1300" dirty="0">
                <a:latin typeface="Times New Roman" panose="02020603050405020304" pitchFamily="18" charset="0"/>
                <a:cs typeface="Times New Roman" panose="02020603050405020304" pitchFamily="18" charset="0"/>
              </a:rPr>
              <a:t>How does the accuracy of demand forecasting vary across different item types, and how can this information be used to optimize inventory levels for each product category?</a:t>
            </a:r>
          </a:p>
          <a:p>
            <a:r>
              <a:rPr lang="en-US" sz="1300" dirty="0">
                <a:latin typeface="Times New Roman" panose="02020603050405020304" pitchFamily="18" charset="0"/>
                <a:cs typeface="Times New Roman" panose="02020603050405020304" pitchFamily="18" charset="0"/>
              </a:rPr>
              <a:t>How do seasonal patterns affect demand across different suppliers, and how can this information be used to optimize supplier relationships and ordering strategies?</a:t>
            </a:r>
          </a:p>
          <a:p>
            <a:pPr marL="0" indent="0">
              <a:buNone/>
            </a:pPr>
            <a:endParaRPr lang="en-US" sz="1200" dirty="0">
              <a:ea typeface="+mn-lt"/>
              <a:cs typeface="+mn-lt"/>
            </a:endParaRPr>
          </a:p>
        </p:txBody>
      </p:sp>
      <p:sp>
        <p:nvSpPr>
          <p:cNvPr id="6" name="Content Placeholder 2">
            <a:extLst>
              <a:ext uri="{FF2B5EF4-FFF2-40B4-BE49-F238E27FC236}">
                <a16:creationId xmlns:a16="http://schemas.microsoft.com/office/drawing/2014/main" id="{CBB25C81-9F43-76DC-B40C-8C4F9BBC40C8}"/>
              </a:ext>
            </a:extLst>
          </p:cNvPr>
          <p:cNvSpPr txBox="1">
            <a:spLocks/>
          </p:cNvSpPr>
          <p:nvPr/>
        </p:nvSpPr>
        <p:spPr>
          <a:xfrm>
            <a:off x="6098852" y="1060010"/>
            <a:ext cx="5875579" cy="5056310"/>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50292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344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b="1" dirty="0">
                <a:latin typeface="Segoe UI"/>
                <a:cs typeface="Segoe UI"/>
              </a:rPr>
              <a:t>DATA SOURCE LINKS</a:t>
            </a:r>
          </a:p>
          <a:p>
            <a:pPr marL="0" indent="0">
              <a:buNone/>
            </a:pPr>
            <a:r>
              <a:rPr lang="en-US" sz="900" dirty="0">
                <a:latin typeface="Times New Roman" panose="02020603050405020304" pitchFamily="18" charset="0"/>
                <a:cs typeface="Times New Roman" panose="02020603050405020304" pitchFamily="18" charset="0"/>
              </a:rPr>
              <a:t>The dataset provides comprehensive data on Maryland's alcohol sales and transfers, including retail and wholesale transactions, gathered by the Department of Liquor Control.</a:t>
            </a:r>
            <a:r>
              <a:rPr lang="en-US" sz="900" dirty="0"/>
              <a:t> </a:t>
            </a:r>
            <a:r>
              <a:rPr lang="en-US" sz="900" dirty="0">
                <a:latin typeface="Times New Roman" panose="02020603050405020304" pitchFamily="18" charset="0"/>
                <a:cs typeface="Times New Roman" panose="02020603050405020304" pitchFamily="18" charset="0"/>
              </a:rPr>
              <a:t>The dataset consists of 9 columns and an 308 thousand  of rows.</a:t>
            </a:r>
          </a:p>
          <a:p>
            <a:pPr marL="0" indent="0">
              <a:buNone/>
            </a:pPr>
            <a:r>
              <a:rPr lang="en-US" sz="900" dirty="0">
                <a:latin typeface="Times New Roman" panose="02020603050405020304" pitchFamily="18" charset="0"/>
                <a:cs typeface="Times New Roman" panose="02020603050405020304" pitchFamily="18" charset="0"/>
              </a:rPr>
              <a:t>Key Target Variables</a:t>
            </a:r>
          </a:p>
          <a:p>
            <a:pPr>
              <a:buFont typeface="+mj-lt"/>
              <a:buAutoNum type="arabicPeriod"/>
            </a:pPr>
            <a:r>
              <a:rPr lang="en-US" sz="900" dirty="0">
                <a:latin typeface="Times New Roman" panose="02020603050405020304" pitchFamily="18" charset="0"/>
                <a:cs typeface="Times New Roman" panose="02020603050405020304" pitchFamily="18" charset="0"/>
              </a:rPr>
              <a:t>RETAIL SALES (</a:t>
            </a:r>
            <a:r>
              <a:rPr lang="en-US" sz="900" dirty="0" err="1">
                <a:latin typeface="Times New Roman" panose="02020603050405020304" pitchFamily="18" charset="0"/>
                <a:cs typeface="Times New Roman" panose="02020603050405020304" pitchFamily="18" charset="0"/>
              </a:rPr>
              <a:t>rtl_sales</a:t>
            </a:r>
            <a:r>
              <a:rPr lang="en-US" sz="900" dirty="0">
                <a:latin typeface="Times New Roman" panose="02020603050405020304" pitchFamily="18" charset="0"/>
                <a:cs typeface="Times New Roman" panose="02020603050405020304" pitchFamily="18" charset="0"/>
              </a:rPr>
              <a:t>): Primary indicator of consumer demand through DLC dispensaries.</a:t>
            </a:r>
          </a:p>
          <a:p>
            <a:pPr>
              <a:buFont typeface="+mj-lt"/>
              <a:buAutoNum type="arabicPeriod"/>
            </a:pPr>
            <a:r>
              <a:rPr lang="en-US" sz="900" dirty="0">
                <a:latin typeface="Times New Roman" panose="02020603050405020304" pitchFamily="18" charset="0"/>
                <a:cs typeface="Times New Roman" panose="02020603050405020304" pitchFamily="18" charset="0"/>
              </a:rPr>
              <a:t>WAREHOUSE SALES (</a:t>
            </a:r>
            <a:r>
              <a:rPr lang="en-US" sz="900" dirty="0" err="1">
                <a:latin typeface="Times New Roman" panose="02020603050405020304" pitchFamily="18" charset="0"/>
                <a:cs typeface="Times New Roman" panose="02020603050405020304" pitchFamily="18" charset="0"/>
              </a:rPr>
              <a:t>whs_sales</a:t>
            </a:r>
            <a:r>
              <a:rPr lang="en-US" sz="900" dirty="0">
                <a:latin typeface="Times New Roman" panose="02020603050405020304" pitchFamily="18" charset="0"/>
                <a:cs typeface="Times New Roman" panose="02020603050405020304" pitchFamily="18" charset="0"/>
              </a:rPr>
              <a:t>): Indicates demand from licensed businesses (MC Licensees).</a:t>
            </a:r>
          </a:p>
          <a:p>
            <a:pPr marL="0" indent="0">
              <a:buNone/>
            </a:pPr>
            <a:r>
              <a:rPr lang="en-US" sz="900" dirty="0">
                <a:latin typeface="Times New Roman" panose="02020603050405020304" pitchFamily="18" charset="0"/>
                <a:cs typeface="Times New Roman" panose="02020603050405020304" pitchFamily="18" charset="0"/>
                <a:hlinkClick r:id="rId5"/>
              </a:rPr>
              <a:t>Warehouse and Retail Sales</a:t>
            </a:r>
            <a:endParaRPr lang="en-US" sz="900" dirty="0">
              <a:latin typeface="Times New Roman" panose="02020603050405020304" pitchFamily="18" charset="0"/>
              <a:cs typeface="Times New Roman" panose="02020603050405020304" pitchFamily="18" charset="0"/>
            </a:endParaRPr>
          </a:p>
          <a:p>
            <a:pPr marL="0" indent="0">
              <a:buNone/>
            </a:pPr>
            <a:r>
              <a:rPr lang="en-US" sz="1200" b="1" dirty="0">
                <a:latin typeface="Segoe UI"/>
                <a:cs typeface="Segoe UI"/>
              </a:rPr>
              <a:t>APPROACH</a:t>
            </a:r>
          </a:p>
          <a:p>
            <a:pPr marL="285750" indent="-285750"/>
            <a:r>
              <a:rPr lang="en-US" sz="900" dirty="0">
                <a:latin typeface="Times New Roman" panose="02020603050405020304" pitchFamily="18" charset="0"/>
                <a:cs typeface="Times New Roman" panose="02020603050405020304" pitchFamily="18" charset="0"/>
              </a:rPr>
              <a:t>Data Collection and feature engineering : calculating lags, moving averages.</a:t>
            </a:r>
          </a:p>
          <a:p>
            <a:pPr>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Pattern Identification: Next, we'll look for patterns in the data and draw insights.</a:t>
            </a:r>
          </a:p>
          <a:p>
            <a:pPr>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Hyperparameter tuning.</a:t>
            </a:r>
          </a:p>
          <a:p>
            <a:pPr>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Predictive Modeling: Using the patterns we've found, we'll create models to predict future demand. We use models like </a:t>
            </a:r>
            <a:r>
              <a:rPr lang="en-US" sz="900" dirty="0" err="1">
                <a:latin typeface="Times New Roman" panose="02020603050405020304" pitchFamily="18" charset="0"/>
                <a:cs typeface="Times New Roman" panose="02020603050405020304" pitchFamily="18" charset="0"/>
              </a:rPr>
              <a:t>XGoost</a:t>
            </a:r>
            <a:r>
              <a:rPr lang="en-US" sz="900" dirty="0">
                <a:latin typeface="Times New Roman" panose="02020603050405020304" pitchFamily="18" charset="0"/>
                <a:cs typeface="Times New Roman" panose="02020603050405020304" pitchFamily="18" charset="0"/>
              </a:rPr>
              <a:t>,  LSTM,  ARIMA, SVM and Ensemble modeling.</a:t>
            </a:r>
          </a:p>
          <a:p>
            <a:pPr>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Validating the models.</a:t>
            </a:r>
          </a:p>
          <a:p>
            <a:pPr marL="285750" indent="-285750"/>
            <a:endParaRPr lang="en-US" sz="1200" dirty="0">
              <a:latin typeface="Segoe UI"/>
              <a:cs typeface="Segoe UI"/>
            </a:endParaRPr>
          </a:p>
        </p:txBody>
      </p:sp>
      <p:sp>
        <p:nvSpPr>
          <p:cNvPr id="8" name="Rectangle 4">
            <a:extLst>
              <a:ext uri="{FF2B5EF4-FFF2-40B4-BE49-F238E27FC236}">
                <a16:creationId xmlns:a16="http://schemas.microsoft.com/office/drawing/2014/main" id="{9D41ECCE-5C43-5832-2A94-B84F5F8A9B34}"/>
              </a:ext>
            </a:extLst>
          </p:cNvPr>
          <p:cNvSpPr>
            <a:spLocks noChangeArrowheads="1"/>
          </p:cNvSpPr>
          <p:nvPr/>
        </p:nvSpPr>
        <p:spPr bwMode="auto">
          <a:xfrm>
            <a:off x="210116" y="1397670"/>
            <a:ext cx="4788064"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Demand forecasting is crucial for businesses to predict customer demand, aiding in informed inventory management, production planning, and resource allocation, reducing stockouts and overproduction risks.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latin typeface="Times New Roman" panose="02020603050405020304" pitchFamily="18" charset="0"/>
                <a:cs typeface="Times New Roman" panose="02020603050405020304" pitchFamily="18" charset="0"/>
              </a:rPr>
              <a:t>The objective of this project is to create a reliable demand forecasting model for our supply chain by utilizing advanced data analytics and machine learning techniques. By analyzing previous sales data, which includes data regarding retail and warehouse sales as well as different product and supplier attributes.</a:t>
            </a:r>
          </a:p>
        </p:txBody>
      </p:sp>
    </p:spTree>
    <p:extLst>
      <p:ext uri="{BB962C8B-B14F-4D97-AF65-F5344CB8AC3E}">
        <p14:creationId xmlns:p14="http://schemas.microsoft.com/office/powerpoint/2010/main" val="4223133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TotalTime>
  <Words>538</Words>
  <Application>Microsoft Office PowerPoint</Application>
  <PresentationFormat>Widescreen</PresentationFormat>
  <Paragraphs>31</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NexusSansWebPro</vt:lpstr>
      <vt:lpstr>Segoe UI</vt:lpstr>
      <vt:lpstr>Times New Roman</vt:lpstr>
      <vt:lpstr>office theme</vt:lpstr>
      <vt:lpstr>Project Proposal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MAHESH RAJENDRA</dc:creator>
  <cp:lastModifiedBy>MAHESH RAJENDRA</cp:lastModifiedBy>
  <cp:revision>23</cp:revision>
  <dcterms:created xsi:type="dcterms:W3CDTF">2024-09-23T22:53:39Z</dcterms:created>
  <dcterms:modified xsi:type="dcterms:W3CDTF">2024-10-05T05:35:57Z</dcterms:modified>
</cp:coreProperties>
</file>